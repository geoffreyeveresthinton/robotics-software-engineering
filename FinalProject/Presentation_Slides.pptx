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61" r:id="rId5"/>
    <p:sldId id="257" r:id="rId6"/>
    <p:sldId id="264" r:id="rId7"/>
    <p:sldId id="258" r:id="rId8"/>
    <p:sldId id="260" r:id="rId9"/>
    <p:sldId id="259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E0C6E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27000" y="292735"/>
            <a:ext cx="1123950" cy="1130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746740" y="70485"/>
            <a:ext cx="1352550" cy="1352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749790" y="6261100"/>
            <a:ext cx="2349500" cy="2667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635" y="6640195"/>
            <a:ext cx="12192000" cy="21780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879840" y="65547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800080"/>
                </a:solidFill>
                <a:latin typeface="Comic Sans MS" panose="030F0702030302020204"/>
                <a:ea typeface="Comic Sans MS" panose="030F0702030302020204"/>
              </a:rPr>
              <a:t>College of Artificial Intelligence</a:t>
            </a:r>
            <a:endParaRPr lang="en-US" altLang="zh-CN" sz="1600">
              <a:solidFill>
                <a:srgbClr val="800080"/>
              </a:solidFill>
              <a:latin typeface="Comic Sans MS" panose="030F0702030302020204"/>
              <a:ea typeface="Comic Sans MS" panose="030F0702030302020204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322070" y="917575"/>
            <a:ext cx="9377045" cy="0"/>
          </a:xfrm>
          <a:prstGeom prst="line">
            <a:avLst/>
          </a:prstGeom>
          <a:ln w="31750" cap="rnd">
            <a:solidFill>
              <a:schemeClr val="tx2">
                <a:lumMod val="75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3555365" y="6555105"/>
            <a:ext cx="8636635" cy="76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1781175" y="838200"/>
            <a:ext cx="6005830" cy="76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.xml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0.xml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.xml"/><Relationship Id="rId2" Type="http://schemas.openxmlformats.org/officeDocument/2006/relationships/image" Target="../media/image11.emf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.xml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3.xml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6.xml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635" y="0"/>
            <a:ext cx="12192635" cy="3987800"/>
          </a:xfrm>
          <a:prstGeom prst="rect">
            <a:avLst/>
          </a:prstGeom>
          <a:solidFill>
            <a:srgbClr val="7E0C6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905000" y="1933575"/>
            <a:ext cx="8699500" cy="6350"/>
          </a:xfrm>
          <a:prstGeom prst="line">
            <a:avLst/>
          </a:prstGeom>
          <a:ln w="28575" cmpd="sng">
            <a:solidFill>
              <a:srgbClr val="FAFAFA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715" y="5025390"/>
            <a:ext cx="1010285" cy="10102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550" y="5233035"/>
            <a:ext cx="3175000" cy="9715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70000" y="5401310"/>
            <a:ext cx="2037715" cy="63436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b="1">
                <a:solidFill>
                  <a:srgbClr val="800080"/>
                </a:solidFill>
                <a:latin typeface="黑体" panose="02010609060101010101" charset="-122"/>
                <a:ea typeface="黑体" panose="02010609060101010101" charset="-122"/>
              </a:rPr>
              <a:t>人工智能学院</a:t>
            </a:r>
            <a:endParaRPr lang="zh-CN" altLang="en-US" sz="2000" b="1">
              <a:solidFill>
                <a:srgbClr val="80008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8000" y="60353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solidFill>
                  <a:srgbClr val="800080"/>
                </a:solidFill>
                <a:latin typeface="TimesNewRomanPS-BoldMT"/>
                <a:ea typeface="TimesNewRomanPS-BoldMT"/>
              </a:rPr>
              <a:t>College ofArtificial Intelligence</a:t>
            </a:r>
            <a:endParaRPr lang="en-US" altLang="zh-CN" sz="1600" b="1">
              <a:solidFill>
                <a:srgbClr val="800080"/>
              </a:solidFill>
              <a:latin typeface="TimesNewRomanPS-BoldMT"/>
              <a:ea typeface="TimesNewRomanPS-BoldM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06800" y="13176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机器人软件工程学展示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23485" y="29845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第</a:t>
            </a:r>
            <a:r>
              <a:rPr lang="en-US" altLang="zh-CN" b="1">
                <a:solidFill>
                  <a:schemeClr val="bg1"/>
                </a:solidFill>
              </a:rPr>
              <a:t>7</a:t>
            </a:r>
            <a:r>
              <a:rPr lang="zh-CN" altLang="en-US" b="1">
                <a:solidFill>
                  <a:schemeClr val="bg1"/>
                </a:solidFill>
              </a:rPr>
              <a:t>组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火生旺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赵子木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2026.06.16</a:t>
            </a:r>
            <a:endParaRPr lang="en-US" altLang="zh-CN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86585" y="4203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2"/>
                </a:solidFill>
              </a:rPr>
              <a:t>任务场景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pic>
        <p:nvPicPr>
          <p:cNvPr id="5" name="图片 4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9290" y="1625600"/>
            <a:ext cx="5163820" cy="4110990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5617845" y="3353435"/>
            <a:ext cx="75565" cy="7556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273550" y="3138170"/>
            <a:ext cx="75565" cy="7556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919595" y="5006340"/>
            <a:ext cx="75565" cy="7556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曲线连接符 10"/>
          <p:cNvCxnSpPr>
            <a:stCxn id="8" idx="5"/>
          </p:cNvCxnSpPr>
          <p:nvPr/>
        </p:nvCxnSpPr>
        <p:spPr>
          <a:xfrm rot="5400000" flipH="1" flipV="1">
            <a:off x="6758940" y="934720"/>
            <a:ext cx="1406525" cy="3559175"/>
          </a:xfrm>
          <a:prstGeom prst="curvedConnector4">
            <a:avLst>
              <a:gd name="adj1" fmla="val 79322"/>
              <a:gd name="adj2" fmla="val 50152"/>
            </a:avLst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364345" y="1734820"/>
            <a:ext cx="1762760" cy="920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任务起点</a:t>
            </a:r>
            <a:r>
              <a:rPr lang="en-US" altLang="zh-CN"/>
              <a:t>/</a:t>
            </a:r>
            <a:r>
              <a:rPr lang="zh-CN" altLang="en-US"/>
              <a:t>终点，机器人待机</a:t>
            </a:r>
            <a:r>
              <a:rPr lang="zh-CN" altLang="en-US"/>
              <a:t>点</a:t>
            </a:r>
            <a:endParaRPr lang="zh-CN" altLang="en-US"/>
          </a:p>
        </p:txBody>
      </p:sp>
      <p:cxnSp>
        <p:nvCxnSpPr>
          <p:cNvPr id="13" name="曲线连接符 12"/>
          <p:cNvCxnSpPr>
            <a:stCxn id="10" idx="4"/>
          </p:cNvCxnSpPr>
          <p:nvPr/>
        </p:nvCxnSpPr>
        <p:spPr>
          <a:xfrm rot="5400000" flipH="1" flipV="1">
            <a:off x="7872730" y="3755390"/>
            <a:ext cx="410845" cy="2240915"/>
          </a:xfrm>
          <a:prstGeom prst="curvedConnector4">
            <a:avLst>
              <a:gd name="adj1" fmla="val -57960"/>
              <a:gd name="adj2" fmla="val 50836"/>
            </a:avLst>
          </a:prstGeom>
          <a:ln w="28575" cmpd="thickThin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9364345" y="4483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抓取点</a:t>
            </a:r>
            <a:r>
              <a:rPr lang="en-US" altLang="zh-CN"/>
              <a:t>/</a:t>
            </a:r>
            <a:r>
              <a:rPr lang="zh-CN" altLang="en-US"/>
              <a:t>导航</a:t>
            </a:r>
            <a:r>
              <a:rPr lang="zh-CN" altLang="en-US"/>
              <a:t>目标点</a:t>
            </a:r>
            <a:endParaRPr lang="zh-CN" altLang="en-US"/>
          </a:p>
        </p:txBody>
      </p:sp>
      <p:cxnSp>
        <p:nvCxnSpPr>
          <p:cNvPr id="15" name="曲线连接符 14"/>
          <p:cNvCxnSpPr/>
          <p:nvPr/>
        </p:nvCxnSpPr>
        <p:spPr>
          <a:xfrm rot="5400000" flipH="1">
            <a:off x="3300095" y="2229485"/>
            <a:ext cx="568960" cy="1377950"/>
          </a:xfrm>
          <a:prstGeom prst="curvedConnector4">
            <a:avLst>
              <a:gd name="adj1" fmla="val 78906"/>
              <a:gd name="adj2" fmla="val 5036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886585" y="2369820"/>
            <a:ext cx="958215" cy="1047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物料</a:t>
            </a:r>
            <a:r>
              <a:rPr lang="zh-CN" altLang="en-US"/>
              <a:t>投放点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947795" y="1638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项目名称：睿行取送</a:t>
            </a:r>
            <a:endParaRPr lang="zh-CN" altLang="en-US"/>
          </a:p>
          <a:p>
            <a:r>
              <a:rPr lang="zh-CN" altLang="en-US"/>
              <a:t>英文名称：</a:t>
            </a:r>
            <a:r>
              <a:rPr lang="en-US" altLang="zh-CN"/>
              <a:t>IntelliCruise Fetch-Delivery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26970" y="3644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2"/>
                </a:solidFill>
              </a:rPr>
              <a:t>系统架构</a:t>
            </a:r>
            <a:r>
              <a:rPr lang="en-US" altLang="zh-CN" sz="2400" b="1">
                <a:solidFill>
                  <a:schemeClr val="tx2"/>
                </a:solidFill>
              </a:rPr>
              <a:t>Over</a:t>
            </a:r>
            <a:r>
              <a:rPr lang="en-US" altLang="zh-CN" sz="2400" b="1">
                <a:solidFill>
                  <a:schemeClr val="tx2"/>
                </a:solidFill>
              </a:rPr>
              <a:t>view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pic>
        <p:nvPicPr>
          <p:cNvPr id="14" name="图片 13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705" y="1102360"/>
            <a:ext cx="7275195" cy="52571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844675" y="40195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tx2"/>
                </a:solidFill>
              </a:rPr>
              <a:t>all1.sh</a:t>
            </a:r>
            <a:r>
              <a:rPr lang="zh-CN" altLang="en-US" sz="2400" b="1">
                <a:solidFill>
                  <a:schemeClr val="tx2"/>
                </a:solidFill>
              </a:rPr>
              <a:t>中的</a:t>
            </a:r>
            <a:r>
              <a:rPr lang="zh-CN" altLang="en-US" sz="2400" b="1">
                <a:solidFill>
                  <a:schemeClr val="tx2"/>
                </a:solidFill>
              </a:rPr>
              <a:t>自检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pic>
        <p:nvPicPr>
          <p:cNvPr id="7" name="图片 6" descr="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1930" y="1672590"/>
            <a:ext cx="5915025" cy="32480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03400" y="3568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chemeClr val="tx2"/>
                </a:solidFill>
                <a:sym typeface="+mn-ea"/>
              </a:rPr>
              <a:t>all1.sh</a:t>
            </a:r>
            <a:r>
              <a:rPr lang="zh-CN" altLang="en-US" sz="2400" b="1">
                <a:solidFill>
                  <a:schemeClr val="tx2"/>
                </a:solidFill>
                <a:sym typeface="+mn-ea"/>
              </a:rPr>
              <a:t>中的</a:t>
            </a:r>
            <a:r>
              <a:rPr lang="zh-CN" altLang="en-US" sz="2400" b="1">
                <a:solidFill>
                  <a:schemeClr val="tx2"/>
                </a:solidFill>
                <a:sym typeface="+mn-ea"/>
              </a:rPr>
              <a:t>状态机</a:t>
            </a:r>
            <a:endParaRPr lang="zh-CN" altLang="en-US" sz="2400" b="1">
              <a:solidFill>
                <a:schemeClr val="tx2"/>
              </a:solidFill>
              <a:sym typeface="+mn-ea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8765540" y="-39622222"/>
          <a:ext cx="285750" cy="4526280"/>
        </p:xfrm>
        <a:graphic>
          <a:graphicData uri="http://schemas.openxmlformats.org/drawingml/2006/table">
            <a:tbl>
              <a:tblPr/>
              <a:tblGrid>
                <a:gridCol w="57267"/>
                <a:gridCol w="37983"/>
              </a:tblGrid>
              <a:tr h="4526280">
                <a:tc>
                  <a:txBody>
                    <a:bodyPr/>
                    <a:p>
                      <a:pPr algn="r" fontAlgn="t">
                        <a:lnSpc>
                          <a:spcPts val="1000"/>
                        </a:lnSpc>
                      </a:pPr>
                      <a:endParaRPr lang="en-US" altLang="zh-CN" sz="100">
                        <a:solidFill>
                          <a:srgbClr val="AFAFAF"/>
                        </a:solidFill>
                      </a:endParaRPr>
                    </a:p>
                  </a:txBody>
                  <a:tcPr marL="0" marR="32067" marT="0" marB="0" anchor="t" anchorCtr="0">
                    <a:lnL>
                      <a:noFill/>
                    </a:lnL>
                    <a:lnR w="19050" cap="flat" cmpd="sng">
                      <a:solidFill>
                        <a:srgbClr val="6CE26C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000"/>
                        </a:lnSpc>
                      </a:pPr>
                      <a:endParaRPr lang="en-US" altLang="zh-CN" sz="100"/>
                    </a:p>
                  </a:txBody>
                  <a:tcPr marL="63817" marR="0" marT="0" marB="0" anchor="t" anchorCtr="0">
                    <a:lnL w="19050" cap="flat" cmpd="sng">
                      <a:solidFill>
                        <a:srgbClr val="6CE26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110" y="1734820"/>
            <a:ext cx="5270500" cy="3765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915" y="1734820"/>
            <a:ext cx="5270500" cy="37655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03400" y="35687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chemeClr val="tx2"/>
                </a:solidFill>
                <a:sym typeface="+mn-ea"/>
              </a:rPr>
              <a:t>all1.sh</a:t>
            </a:r>
            <a:r>
              <a:rPr lang="zh-CN" altLang="en-US" sz="2400" b="1">
                <a:solidFill>
                  <a:schemeClr val="tx2"/>
                </a:solidFill>
                <a:sym typeface="+mn-ea"/>
              </a:rPr>
              <a:t>中的</a:t>
            </a:r>
            <a:r>
              <a:rPr lang="zh-CN" altLang="en-US" sz="2400" b="1">
                <a:solidFill>
                  <a:schemeClr val="tx2"/>
                </a:solidFill>
                <a:sym typeface="+mn-ea"/>
              </a:rPr>
              <a:t>状态机</a:t>
            </a:r>
            <a:endParaRPr lang="zh-CN" altLang="en-US" sz="2400" b="1">
              <a:solidFill>
                <a:schemeClr val="tx2"/>
              </a:solidFill>
              <a:sym typeface="+mn-ea"/>
            </a:endParaRPr>
          </a:p>
        </p:txBody>
      </p:sp>
      <p:pic>
        <p:nvPicPr>
          <p:cNvPr id="7" name="图片 6" descr="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30" y="1661160"/>
            <a:ext cx="5819775" cy="4200525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/>
        </p:nvGraphicFramePr>
        <p:xfrm>
          <a:off x="8765540" y="-39622222"/>
          <a:ext cx="285750" cy="0"/>
        </p:xfrm>
        <a:graphic>
          <a:graphicData uri="http://schemas.openxmlformats.org/drawingml/2006/table">
            <a:tbl>
              <a:tblPr/>
              <a:tblGrid>
                <a:gridCol w="57267"/>
                <a:gridCol w="37983"/>
              </a:tblGrid>
              <a:tr h="4526280">
                <a:tc>
                  <a:txBody>
                    <a:bodyPr/>
                    <a:p>
                      <a:pPr algn="r" fontAlgn="t">
                        <a:lnSpc>
                          <a:spcPts val="1000"/>
                        </a:lnSpc>
                      </a:pPr>
                      <a:endParaRPr lang="en-US" altLang="zh-CN" sz="100">
                        <a:solidFill>
                          <a:srgbClr val="AFAFAF"/>
                        </a:solidFill>
                      </a:endParaRPr>
                    </a:p>
                  </a:txBody>
                  <a:tcPr marL="0" marR="32067" marT="0" marB="0" anchor="t" anchorCtr="0">
                    <a:lnL>
                      <a:noFill/>
                    </a:lnL>
                    <a:lnR w="19050" cap="flat" cmpd="sng">
                      <a:solidFill>
                        <a:srgbClr val="6CE26C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fontAlgn="t">
                        <a:lnSpc>
                          <a:spcPts val="1000"/>
                        </a:lnSpc>
                      </a:pPr>
                      <a:endParaRPr lang="en-US" altLang="zh-CN" sz="100"/>
                    </a:p>
                  </a:txBody>
                  <a:tcPr marL="63817" marR="0" marT="0" marB="0" anchor="t" anchorCtr="0">
                    <a:lnL w="19050" cap="flat" cmpd="sng">
                      <a:solidFill>
                        <a:srgbClr val="6CE26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160" y="1922145"/>
            <a:ext cx="5270500" cy="27749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73885" y="3708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2"/>
                </a:solidFill>
              </a:rPr>
              <a:t>创新点：</a:t>
            </a:r>
            <a:r>
              <a:rPr lang="en-US" altLang="zh-CN" sz="2400" b="1">
                <a:solidFill>
                  <a:schemeClr val="tx2"/>
                </a:solidFill>
              </a:rPr>
              <a:t>p.py</a:t>
            </a:r>
            <a:r>
              <a:rPr lang="zh-CN" altLang="en-US" sz="2400" b="1">
                <a:solidFill>
                  <a:schemeClr val="tx2"/>
                </a:solidFill>
              </a:rPr>
              <a:t>文件</a:t>
            </a:r>
            <a:endParaRPr lang="zh-CN" altLang="en-US" sz="2400" b="1">
              <a:solidFill>
                <a:schemeClr val="tx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0910" y="1289050"/>
            <a:ext cx="1038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任务痛点：如何在导航目标点附近实现对物料的精准抓取，同时对物料的移动</a:t>
            </a:r>
            <a:r>
              <a:rPr lang="zh-CN" altLang="en-US"/>
              <a:t>和位置具有鲁棒</a:t>
            </a:r>
            <a:r>
              <a:rPr lang="zh-CN" altLang="en-US"/>
              <a:t>性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42035" y="1883410"/>
            <a:ext cx="9689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创新点：使用</a:t>
            </a:r>
            <a:r>
              <a:rPr lang="en-US" altLang="zh-CN"/>
              <a:t>PID</a:t>
            </a:r>
            <a:r>
              <a:rPr lang="zh-CN" altLang="en-US"/>
              <a:t>控制器实现视觉像素误差</a:t>
            </a:r>
            <a:r>
              <a:rPr lang="en-US" altLang="zh-CN"/>
              <a:t>+</a:t>
            </a:r>
            <a:r>
              <a:rPr lang="zh-CN" altLang="en-US"/>
              <a:t>深度距离误差的双闭环</a:t>
            </a:r>
            <a:r>
              <a:rPr lang="zh-CN" altLang="en-US"/>
              <a:t>控制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2613025"/>
            <a:ext cx="5270500" cy="27749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0" y="2524125"/>
            <a:ext cx="5270500" cy="29781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35785" y="3638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chemeClr val="tx2"/>
                </a:solidFill>
                <a:sym typeface="+mn-ea"/>
              </a:rPr>
              <a:t>创新点：</a:t>
            </a:r>
            <a:r>
              <a:rPr lang="en-US" altLang="zh-CN" sz="2400" b="1">
                <a:solidFill>
                  <a:schemeClr val="tx2"/>
                </a:solidFill>
                <a:sym typeface="+mn-ea"/>
              </a:rPr>
              <a:t>p.py</a:t>
            </a:r>
            <a:r>
              <a:rPr lang="zh-CN" altLang="en-US" sz="2400" b="1">
                <a:solidFill>
                  <a:schemeClr val="tx2"/>
                </a:solidFill>
                <a:sym typeface="+mn-ea"/>
              </a:rPr>
              <a:t>文件</a:t>
            </a:r>
            <a:endParaRPr lang="zh-CN" altLang="en-US" sz="2400" b="1">
              <a:solidFill>
                <a:schemeClr val="tx2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62735" y="1134745"/>
            <a:ext cx="9537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新的痛点：</a:t>
            </a:r>
            <a:r>
              <a:rPr lang="en-US" altLang="zh-CN"/>
              <a:t>1.</a:t>
            </a:r>
            <a:r>
              <a:rPr lang="zh-CN" altLang="en-US"/>
              <a:t>物料消失在机器人视野当中怎么</a:t>
            </a:r>
            <a:r>
              <a:rPr lang="zh-CN" altLang="en-US"/>
              <a:t>办？</a:t>
            </a:r>
            <a:endParaRPr lang="zh-CN" altLang="en-US"/>
          </a:p>
          <a:p>
            <a:r>
              <a:rPr lang="en-US" altLang="zh-CN"/>
              <a:t>                  2.</a:t>
            </a:r>
            <a:r>
              <a:rPr lang="zh-CN" altLang="en-US"/>
              <a:t>距离物料小于</a:t>
            </a:r>
            <a:r>
              <a:rPr lang="en-US" altLang="zh-CN"/>
              <a:t>0.5</a:t>
            </a:r>
            <a:r>
              <a:rPr lang="zh-CN" altLang="en-US"/>
              <a:t>米左右时，深度消失为</a:t>
            </a:r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62735" y="1948815"/>
            <a:ext cx="8663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解决办法：记忆物料上一次出现在画面中的位置，向对应方向旋转寻找。使用</a:t>
            </a:r>
            <a:r>
              <a:rPr lang="en-US" altLang="zh-CN"/>
              <a:t>PID</a:t>
            </a:r>
            <a:r>
              <a:rPr lang="zh-CN" altLang="en-US"/>
              <a:t>控制器调整位置至</a:t>
            </a:r>
            <a:r>
              <a:rPr lang="en-US" altLang="zh-CN"/>
              <a:t>0.6</a:t>
            </a:r>
            <a:r>
              <a:rPr lang="zh-CN" altLang="en-US"/>
              <a:t>米时，放弃使用深度，改为小幅前进</a:t>
            </a:r>
            <a:r>
              <a:rPr lang="en-US" altLang="zh-CN"/>
              <a:t>0.35</a:t>
            </a:r>
            <a:r>
              <a:rPr lang="zh-CN" altLang="en-US"/>
              <a:t>米到达</a:t>
            </a:r>
            <a:r>
              <a:rPr lang="zh-CN" altLang="en-US"/>
              <a:t>抓取位置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7196" r="-1566" b="44945"/>
          <a:stretch>
            <a:fillRect/>
          </a:stretch>
        </p:blipFill>
        <p:spPr>
          <a:xfrm>
            <a:off x="416560" y="3134360"/>
            <a:ext cx="5353050" cy="24707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105" y="3134360"/>
            <a:ext cx="5270500" cy="1193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-635" y="0"/>
            <a:ext cx="12192635" cy="3987800"/>
          </a:xfrm>
          <a:prstGeom prst="rect">
            <a:avLst/>
          </a:prstGeom>
          <a:solidFill>
            <a:srgbClr val="7E0C6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905000" y="1933575"/>
            <a:ext cx="8699500" cy="6350"/>
          </a:xfrm>
          <a:prstGeom prst="line">
            <a:avLst/>
          </a:prstGeom>
          <a:ln w="28575" cmpd="sng">
            <a:solidFill>
              <a:srgbClr val="FAFAFA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715" y="5025390"/>
            <a:ext cx="1010285" cy="10102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550" y="5233035"/>
            <a:ext cx="3175000" cy="9715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70000" y="5401310"/>
            <a:ext cx="2037715" cy="63436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2000" b="1">
                <a:solidFill>
                  <a:srgbClr val="800080"/>
                </a:solidFill>
                <a:latin typeface="黑体" panose="02010609060101010101" charset="-122"/>
                <a:ea typeface="黑体" panose="02010609060101010101" charset="-122"/>
              </a:rPr>
              <a:t>人工智能学院</a:t>
            </a:r>
            <a:endParaRPr lang="zh-CN" altLang="en-US" sz="2000" b="1">
              <a:solidFill>
                <a:srgbClr val="80008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8000" y="60353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1">
                <a:solidFill>
                  <a:srgbClr val="800080"/>
                </a:solidFill>
                <a:latin typeface="TimesNewRomanPS-BoldMT"/>
                <a:ea typeface="TimesNewRomanPS-BoldMT"/>
              </a:rPr>
              <a:t>College ofArtificial Intelligence</a:t>
            </a:r>
            <a:endParaRPr lang="en-US" altLang="zh-CN" sz="1600" b="1">
              <a:solidFill>
                <a:srgbClr val="800080"/>
              </a:solidFill>
              <a:latin typeface="TimesNewRomanPS-BoldMT"/>
              <a:ea typeface="TimesNewRomanPS-BoldM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06800" y="13176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展示结束，</a:t>
            </a:r>
            <a:r>
              <a:rPr lang="zh-CN" altLang="en-US" sz="2800" b="1">
                <a:solidFill>
                  <a:schemeClr val="bg1"/>
                </a:solidFill>
              </a:rPr>
              <a:t>谢谢大家！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23485" y="29845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第</a:t>
            </a:r>
            <a:r>
              <a:rPr lang="en-US" altLang="zh-CN" b="1">
                <a:solidFill>
                  <a:schemeClr val="bg1"/>
                </a:solidFill>
              </a:rPr>
              <a:t>7</a:t>
            </a:r>
            <a:r>
              <a:rPr lang="zh-CN" altLang="en-US" b="1">
                <a:solidFill>
                  <a:schemeClr val="bg1"/>
                </a:solidFill>
              </a:rPr>
              <a:t>组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火生旺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赵子木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en-US" altLang="zh-CN" b="1">
                <a:solidFill>
                  <a:schemeClr val="bg1"/>
                </a:solidFill>
              </a:rPr>
              <a:t>2026.06.16</a:t>
            </a:r>
            <a:endParaRPr lang="en-US" altLang="zh-CN" b="1">
              <a:solidFill>
                <a:schemeClr val="bg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10"/>
</p:tagLst>
</file>

<file path=ppt/tags/tag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10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6.xml><?xml version="1.0" encoding="utf-8"?>
<p:tagLst xmlns:p="http://schemas.openxmlformats.org/presentationml/2006/main">
  <p:tag name="KSO_WM_SLIDE_ID" val="custom20205081_1"/>
  <p:tag name="KSO_WM_TEMPLATE_SUBCATEGORY" val="2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CONTENT_ORIENTATION" val=""/>
  <p:tag name="KSO_WM_SLIDE_HAS_MASK" val="0"/>
  <p:tag name="KSO_WM_TEMPLATE_SLIDE_ID" val="slide_0e3763c640ea4c61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10"/>
</p:tagLst>
</file>

<file path=ppt/tags/tag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6.xml><?xml version="1.0" encoding="utf-8"?>
<p:tagLst xmlns:p="http://schemas.openxmlformats.org/presentationml/2006/main">
  <p:tag name="KSO_WM_SLIDE_ID" val="custom20205081_1"/>
  <p:tag name="KSO_WM_TEMPLATE_SUBCATEGORY" val="2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CONTENT_ORIENTATION" val=""/>
  <p:tag name="KSO_WM_SLIDE_HAS_MASK" val="0"/>
  <p:tag name="KSO_WM_TEMPLATE_SLIDE_ID" val="slide_0e3763c640ea4c61"/>
</p:tagLst>
</file>

<file path=ppt/theme/theme1.xml><?xml version="1.0" encoding="utf-8"?>
<a:theme xmlns:a="http://schemas.openxmlformats.org/drawingml/2006/main" name="WPS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WPS 演示</Application>
  <PresentationFormat>宽屏</PresentationFormat>
  <Paragraphs>50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Comic Sans MS</vt:lpstr>
      <vt:lpstr>黑体</vt:lpstr>
      <vt:lpstr>TimesNewRomanPS-BoldMT</vt:lpstr>
      <vt:lpstr>Segoe Print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火生旺</cp:lastModifiedBy>
  <cp:revision>162</cp:revision>
  <dcterms:created xsi:type="dcterms:W3CDTF">2019-06-19T02:08:00Z</dcterms:created>
  <dcterms:modified xsi:type="dcterms:W3CDTF">2026-06-16T09:03:03Z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072E681256E643A09204ED7A2AB2E6DD_11</vt:lpwstr>
  </property>
</Properties>
</file>